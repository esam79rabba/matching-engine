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review of the frozen baseline. Open decisions are marked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Non-negotiable principles. Every design decision is tested against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Outside-in view. Everything inside the platform boundary is our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Critical insight: Layers 1-2 are engine-owned and latency-critical. Layers 3-5 are standard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important boundary in the system. Any violation directly degrades latency and jitter.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Foundational architecture choice. Simplicity and provable determinism over multi-threaded throughput.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Fairness boundary is the sequencer. Anything before it varies by access tier.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Journal write happens BEFORE engine processes. This is the zero-data-loss guarantee.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Frozen policy. No unprotected last-fill-price resting due to thin-book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Existing priority models are configuration-selectable. Materially new logic needs a code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FR-1 ships local durable journal + warm restart. DR replication is Phase 2. [OPEN: D-06 journal implementation]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Determinism guarantee means recovery is exact, not approximate.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FR-1 ships FIX + binary + drop copy. Covers critical participant 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Risk is on the ingress path but explicitly outside the deterministic engine hot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Completeness and correctness matter more than pure speed for most venues.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platform binary. All figures are engineering targets validated through performance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Largest contributor is engine match (~5 us). Journal fsync adds ~2-3 us in Reg-Grade mode.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decisions marked. Recommendations are provisional until CTO confirms.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 model is active-passive. Operator authorization for failover is configurable.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Compliance layer is configuration overlay, not code branch. [OPEN: D-03 jurisdiction, D-08 surveillance]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Detailed 'how it all fits together' view for engineering alignment.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FR-1 is production-capable for initial market scope. Enterprise features are additive.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Net FR-1 headcount: 12-15 FTE (planning assumption). Several roles overlap across workstreams.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dates are planning targets from decision closure (Month 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week of decision delay is a week off the FR-1 timeline.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Decision closure delay is the #1 risk. Every risk has a named mitigation.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Build the core differentiator. Buy everything else where mature solutions exist.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GO/NO-GO decision gate between certification and soft launch.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 concrete step: schedule the decision workshop.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Matching Engine Platform</a:t>
            </a:r>
            <a:br/>
            <a:r>
              <a:t>Architecture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918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999999"/>
                </a:solidFill>
              </a:defRPr>
            </a:pPr>
            <a:r>
              <a:t>Frozen Baseline v1.0.0-FINAL  |  2026-03-24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1A2E"/>
                </a:solidFill>
              </a:defRPr>
            </a:pPr>
            <a:r>
              <a:t>Core Design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Determinism: </a:t>
            </a:r>
            <a:r>
              <a:rPr sz="1300">
                <a:solidFill>
                  <a:srgbClr val="666666"/>
                </a:solidFill>
              </a:rPr>
              <a:t>identical input produces identical output, always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Separation of concerns: </a:t>
            </a:r>
            <a:r>
              <a:rPr sz="1300">
                <a:solidFill>
                  <a:srgbClr val="666666"/>
                </a:solidFill>
              </a:rPr>
              <a:t>hot path isolated from control plane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Configurability: </a:t>
            </a:r>
            <a:r>
              <a:rPr sz="1300">
                <a:solidFill>
                  <a:srgbClr val="666666"/>
                </a:solidFill>
              </a:rPr>
              <a:t>existing models parameterized; new logic requires controlled software release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Resilience by design: </a:t>
            </a:r>
            <a:r>
              <a:rPr sz="1300">
                <a:solidFill>
                  <a:srgbClr val="666666"/>
                </a:solidFill>
              </a:rPr>
              <a:t>journal, snapshots, warm restart, defined RTO/RPO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Regulatory readiness: </a:t>
            </a:r>
            <a:r>
              <a:rPr sz="1300">
                <a:solidFill>
                  <a:srgbClr val="666666"/>
                </a:solidFill>
              </a:rPr>
              <a:t>audit trails, clock sync, surveillance hooks from inception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1A2E"/>
                </a:solidFill>
              </a:defRPr>
            </a:pPr>
            <a:r>
              <a:t>System Context - External Actors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Participants: </a:t>
            </a:r>
            <a:r>
              <a:rPr sz="1300">
                <a:solidFill>
                  <a:srgbClr val="666666"/>
                </a:solidFill>
              </a:rPr>
              <a:t>market makers, brokers, buy-side (DMA), retail intermediaries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Post-trade: </a:t>
            </a:r>
            <a:r>
              <a:rPr sz="1300">
                <a:solidFill>
                  <a:srgbClr val="666666"/>
                </a:solidFill>
              </a:rPr>
              <a:t>CCP (clearing), custodian (settlement)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Regulatory: </a:t>
            </a:r>
            <a:r>
              <a:rPr sz="1300">
                <a:solidFill>
                  <a:srgbClr val="666666"/>
                </a:solidFill>
              </a:rPr>
              <a:t>surveillance system (external), regulator/supervisor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Operations: </a:t>
            </a:r>
            <a:r>
              <a:rPr sz="1300">
                <a:solidFill>
                  <a:srgbClr val="666666"/>
                </a:solidFill>
              </a:rPr>
              <a:t>market ops staff, SRE/infrastructure team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</a:defRPr>
            </a:pPr>
            <a:r>
              <a:t>All interactions through defined protocol interfaces (FIX, SBE, REST, multicast)</a:t>
            </a:r>
          </a:p>
        </p:txBody>
      </p:sp>
      <p:pic>
        <p:nvPicPr>
          <p:cNvPr id="4" name="Picture 3" descr="01-system-con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097280"/>
            <a:ext cx="3474720" cy="19470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1A2E"/>
                </a:solidFill>
              </a:defRPr>
            </a:pPr>
            <a:r>
              <a:t>5-Layer Logical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Layer 1 (Hot Path): </a:t>
            </a:r>
            <a:r>
              <a:rPr sz="1300">
                <a:solidFill>
                  <a:srgbClr val="666666"/>
                </a:solidFill>
              </a:rPr>
              <a:t>Sequencer &gt; Journal &gt; Engine &gt; Output Bus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Layer 2 (Control Plane): </a:t>
            </a:r>
            <a:r>
              <a:rPr sz="1300">
                <a:solidFill>
                  <a:srgbClr val="666666"/>
                </a:solidFill>
              </a:rPr>
              <a:t>Config, state machine, snapshots, feature flags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Layer 3 (Platform Services): </a:t>
            </a:r>
            <a:r>
              <a:rPr sz="1300">
                <a:solidFill>
                  <a:srgbClr val="666666"/>
                </a:solidFill>
              </a:rPr>
              <a:t>Gateways, risk, market data, post-trade, ref data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Layer 4 (Operations): </a:t>
            </a:r>
            <a:r>
              <a:rPr sz="1300">
                <a:solidFill>
                  <a:srgbClr val="666666"/>
                </a:solidFill>
              </a:rPr>
              <a:t>Ops console, admin, replay, reconciliation, monitoring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Layer 5 (Ecosystem): </a:t>
            </a:r>
            <a:r>
              <a:rPr sz="1300">
                <a:solidFill>
                  <a:srgbClr val="666666"/>
                </a:solidFill>
              </a:rPr>
              <a:t>Clearing, settlement, surveillance, regulatory reporting</a:t>
            </a:r>
          </a:p>
        </p:txBody>
      </p:sp>
      <p:pic>
        <p:nvPicPr>
          <p:cNvPr id="4" name="Picture 3" descr="02-logical-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097280"/>
            <a:ext cx="3474720" cy="19475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1A2E"/>
                </a:solidFill>
              </a:defRPr>
            </a:pPr>
            <a:r>
              <a:t>Hot Path vs Control Plane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Hot path: </a:t>
            </a:r>
            <a:r>
              <a:rPr sz="1300">
                <a:solidFill>
                  <a:srgbClr val="666666"/>
                </a:solidFill>
              </a:rPr>
              <a:t>sequencer through output bus. Single-threaded per partition.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Constraints: </a:t>
            </a:r>
            <a:r>
              <a:rPr sz="1300">
                <a:solidFill>
                  <a:srgbClr val="666666"/>
                </a:solidFill>
              </a:rPr>
              <a:t>no GC, no allocation, no external I/O except journal, no locks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Control plane: </a:t>
            </a:r>
            <a:r>
              <a:rPr sz="1300">
                <a:solidFill>
                  <a:srgbClr val="666666"/>
                </a:solidFill>
              </a:rPr>
              <a:t>everything else. Standard networking, containers, databases OK.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</a:defRPr>
            </a:pPr>
            <a:r>
              <a:t>Risk checks execute BEFORE sequencer - latency-sensitive but not in deterministic path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Boundary rule: </a:t>
            </a:r>
            <a:r>
              <a:rPr sz="1300">
                <a:solidFill>
                  <a:srgbClr val="666666"/>
                </a:solidFill>
              </a:rPr>
              <a:t>hot path begins at sequencer, ends at output bus</a:t>
            </a:r>
          </a:p>
        </p:txBody>
      </p:sp>
      <p:pic>
        <p:nvPicPr>
          <p:cNvPr id="4" name="Picture 3" descr="04-hot-path-sepa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097280"/>
            <a:ext cx="3474720" cy="223310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1A2E"/>
                </a:solidFill>
              </a:defRPr>
            </a:pPr>
            <a:r>
              <a:t>Single-Threaded Per Partition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Each partition: </a:t>
            </a:r>
            <a:r>
              <a:rPr sz="1300">
                <a:solidFill>
                  <a:srgbClr val="666666"/>
                </a:solidFill>
              </a:rPr>
              <a:t>1 dedicated CPU core, 1 thread, 1+ order books (instruments)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Deterministic: </a:t>
            </a:r>
            <a:r>
              <a:rPr sz="1300">
                <a:solidFill>
                  <a:srgbClr val="666666"/>
                </a:solidFill>
              </a:rPr>
              <a:t>no locks, no shared mutable state, no context switches on hot path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Horizontal scaling: </a:t>
            </a:r>
            <a:r>
              <a:rPr sz="1300">
                <a:solidFill>
                  <a:srgbClr val="666666"/>
                </a:solidFill>
              </a:rPr>
              <a:t>add partitions for more instruments (more cores)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No cross-partition matching: </a:t>
            </a:r>
            <a:r>
              <a:rPr sz="1300">
                <a:solidFill>
                  <a:srgbClr val="666666"/>
                </a:solidFill>
              </a:rPr>
              <a:t>each instrument belongs to exactly one partition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</a:defRPr>
            </a:pPr>
            <a:r>
              <a:t>High-activity instruments may be isolated to a dedicated partition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1A2E"/>
                </a:solidFill>
              </a:defRPr>
            </a:pPr>
            <a:r>
              <a:t>Sequencing Boundary and Fairness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Sequencing: </a:t>
            </a:r>
            <a:r>
              <a:rPr sz="1300">
                <a:solidFill>
                  <a:srgbClr val="666666"/>
                </a:solidFill>
              </a:rPr>
              <a:t>partition-local monotonic. Global ID = partition_id:local_sequence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</a:defRPr>
            </a:pPr>
            <a:r>
              <a:t>Fairness guarantees apply at the venue-controlled sequencing boundary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</a:defRPr>
            </a:pPr>
            <a:r>
              <a:t>Network variability outside venue boundary is NOT guaranteed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Targets: </a:t>
            </a:r>
            <a:r>
              <a:rPr sz="1300">
                <a:solidFill>
                  <a:srgbClr val="666666"/>
                </a:solidFill>
              </a:rPr>
              <a:t>&lt; 1 us (HW seq), &lt; 5 us (SW time-based), &lt; 50 us (Profile C)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[OPEN DECISION D-04: </a:t>
            </a:r>
            <a:r>
              <a:rPr sz="1300">
                <a:solidFill>
                  <a:srgbClr val="666666"/>
                </a:solidFill>
              </a:rPr>
              <a:t>hardware vs. software sequencer]</a:t>
            </a:r>
          </a:p>
        </p:txBody>
      </p:sp>
      <p:pic>
        <p:nvPicPr>
          <p:cNvPr id="4" name="Picture 3" descr="09-fairness-sequencing-bound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097280"/>
            <a:ext cx="3474720" cy="233283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1A2E"/>
                </a:solidFill>
              </a:defRPr>
            </a:pPr>
            <a:r>
              <a:t>Order Lifecycle - End to 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</a:defRPr>
            </a:pPr>
            <a:r>
              <a:t>Submit &gt; Gateway validate &gt; Risk check &gt; Sequencer (seq# + timestamp)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Journal persist (Regulatory-Grade: </a:t>
            </a:r>
            <a:r>
              <a:rPr sz="1300">
                <a:solidFill>
                  <a:srgbClr val="666666"/>
                </a:solidFill>
              </a:rPr>
              <a:t>fsync before processing)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</a:defRPr>
            </a:pPr>
            <a:r>
              <a:t>Engine match &gt; Output bus &gt; Market data + Drop copy + Post-trade + Surveillance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Rejection path: </a:t>
            </a:r>
            <a:r>
              <a:rPr sz="1300">
                <a:solidFill>
                  <a:srgbClr val="666666"/>
                </a:solidFill>
              </a:rPr>
              <a:t>Risk REJECT &gt; Gateway &gt; Participant (no sequencer involvement)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Market order residual: </a:t>
            </a:r>
            <a:r>
              <a:rPr sz="1300">
                <a:solidFill>
                  <a:srgbClr val="666666"/>
                </a:solidFill>
              </a:rPr>
              <a:t>cancel (default) or market-to-limit with collar</a:t>
            </a:r>
          </a:p>
        </p:txBody>
      </p:sp>
      <p:pic>
        <p:nvPicPr>
          <p:cNvPr id="4" name="Picture 3" descr="08-order-lifecycle-sequ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097280"/>
            <a:ext cx="3474720" cy="203759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1A2E"/>
                </a:solidFill>
              </a:defRPr>
            </a:pPr>
            <a:r>
              <a:t>Market-Order Residual Policy (Frozen)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</a:defRPr>
            </a:pPr>
            <a:r>
              <a:t>When a market order exhausts liquidity and residual remains: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Option 1: </a:t>
            </a:r>
            <a:r>
              <a:rPr sz="1300">
                <a:solidFill>
                  <a:srgbClr val="666666"/>
                </a:solidFill>
              </a:rPr>
              <a:t>Cancel residual (default policy)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Option 2: </a:t>
            </a:r>
            <a:r>
              <a:rPr sz="1300">
                <a:solidFill>
                  <a:srgbClr val="666666"/>
                </a:solidFill>
              </a:rPr>
              <a:t>Convert to market-to-limit with defined protection collar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NOT SUPPORTED: </a:t>
            </a:r>
            <a:r>
              <a:rPr sz="1300">
                <a:solidFill>
                  <a:srgbClr val="666666"/>
                </a:solidFill>
              </a:rPr>
              <a:t>unprotected resting at last fill price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</a:defRPr>
            </a:pPr>
            <a:r>
              <a:t>Policy is venue-configurable within this supported set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1A2E"/>
                </a:solidFill>
              </a:defRPr>
            </a:pPr>
            <a:r>
              <a:t>Matching - Price-Time FIFO (FR-1)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FR-1: </a:t>
            </a:r>
            <a:r>
              <a:rPr sz="1300">
                <a:solidFill>
                  <a:srgbClr val="666666"/>
                </a:solidFill>
              </a:rPr>
              <a:t>price-time (FIFO) priority only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Enterprise: </a:t>
            </a:r>
            <a:r>
              <a:rPr sz="1300">
                <a:solidFill>
                  <a:srgbClr val="666666"/>
                </a:solidFill>
              </a:rPr>
              <a:t>adds pro-rata, parity, hybrid - selectable from implemented models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</a:defRPr>
            </a:pPr>
            <a:r>
              <a:t>New matching algorithms require controlled software release (not config-only)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</a:defRPr>
            </a:pPr>
            <a:r>
              <a:t>Execution at passive order's price - aggressive order gets price improvement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STP: </a:t>
            </a:r>
            <a:r>
              <a:rPr sz="1300">
                <a:solidFill>
                  <a:srgbClr val="666666"/>
                </a:solidFill>
              </a:rPr>
              <a:t>cancel-newest (FR-1 default); all modes in Enterprise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1A2E"/>
                </a:solidFill>
              </a:defRPr>
            </a:pPr>
            <a:r>
              <a:t>Journal, Snapshots, and Durability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</a:defRPr>
            </a:pPr>
            <a:r>
              <a:t>Journal = single source of truth. Append-only, checksummed, locally durable.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Regulatory-Grade (default): </a:t>
            </a:r>
            <a:r>
              <a:rPr sz="1300">
                <a:solidFill>
                  <a:srgbClr val="666666"/>
                </a:solidFill>
              </a:rPr>
              <a:t>fsync before processing. Zero data loss.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Reduced-Latency (opt-in): </a:t>
            </a:r>
            <a:r>
              <a:rPr sz="1300">
                <a:solidFill>
                  <a:srgbClr val="666666"/>
                </a:solidFill>
              </a:rPr>
              <a:t>batched writes. Data-loss window = batch interval.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FR-1 baseline: </a:t>
            </a:r>
            <a:r>
              <a:rPr sz="1300">
                <a:solidFill>
                  <a:srgbClr val="666666"/>
                </a:solidFill>
              </a:rPr>
              <a:t>local journal + snapshot/replay + warm restart (single site)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DR journal replication: </a:t>
            </a:r>
            <a:r>
              <a:rPr sz="1300">
                <a:solidFill>
                  <a:srgbClr val="666666"/>
                </a:solidFill>
              </a:rPr>
              <a:t>Phase 2+ unless explicitly included in FR-1 scope</a:t>
            </a:r>
          </a:p>
        </p:txBody>
      </p:sp>
      <p:pic>
        <p:nvPicPr>
          <p:cNvPr id="4" name="Picture 3" descr="10-journaling-replay-recove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097280"/>
            <a:ext cx="3474720" cy="21376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1A2E"/>
                </a:solidFill>
              </a:defRPr>
            </a:pPr>
            <a:r>
              <a:t>Recovery - Warm Restart from Journal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</a:defRPr>
            </a:pPr>
            <a:r>
              <a:t>Failure detected by watchdog (&lt; 2 seconds)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</a:defRPr>
            </a:pPr>
            <a:r>
              <a:t>Load latest snapshot (all books + orders + seq# marker)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</a:defRPr>
            </a:pPr>
            <a:r>
              <a:t>Replay journal from snapshot point (deterministic - identical state)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</a:defRPr>
            </a:pPr>
            <a:r>
              <a:t>Validate recovered state (order count, checksums, seq# continuity)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Resume processing (target: </a:t>
            </a:r>
            <a:r>
              <a:rPr sz="1300">
                <a:solidFill>
                  <a:srgbClr val="666666"/>
                </a:solidFill>
              </a:rPr>
              <a:t>&lt; 60 seconds for 100K resting orders)</a:t>
            </a:r>
          </a:p>
        </p:txBody>
      </p:sp>
      <p:pic>
        <p:nvPicPr>
          <p:cNvPr id="4" name="Picture 3" descr="10-journaling-replay-recove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097280"/>
            <a:ext cx="3474720" cy="213760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1A2E"/>
                </a:solidFill>
              </a:defRPr>
            </a:pPr>
            <a:r>
              <a:t>Participant Connectivity - Gateways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FIX 4.4 gateway (FR-1): </a:t>
            </a:r>
            <a:r>
              <a:rPr sz="1300">
                <a:solidFill>
                  <a:srgbClr val="666666"/>
                </a:solidFill>
              </a:rPr>
              <a:t>industry standard; broadest compatibility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Binary gateway (SBE): </a:t>
            </a:r>
            <a:r>
              <a:rPr sz="1300">
                <a:solidFill>
                  <a:srgbClr val="666666"/>
                </a:solidFill>
              </a:rPr>
              <a:t>lowest latency; for market makers and HFT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Drop copy: </a:t>
            </a:r>
            <a:r>
              <a:rPr sz="1300">
                <a:solidFill>
                  <a:srgbClr val="666666"/>
                </a:solidFill>
              </a:rPr>
              <a:t>real-time read-only trade/order feed for participants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WS/REST gateway: </a:t>
            </a:r>
            <a:r>
              <a:rPr sz="1300">
                <a:solidFill>
                  <a:srgbClr val="666666"/>
                </a:solidFill>
              </a:rPr>
              <a:t>Phase 2+ for lower-tier participants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MM Quote gateway: </a:t>
            </a:r>
            <a:r>
              <a:rPr sz="1300">
                <a:solidFill>
                  <a:srgbClr val="666666"/>
                </a:solidFill>
              </a:rPr>
              <a:t>Phase 2+ for mass-quote market makers</a:t>
            </a:r>
          </a:p>
        </p:txBody>
      </p:sp>
      <p:pic>
        <p:nvPicPr>
          <p:cNvPr id="4" name="Picture 3" descr="05-participant-connec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097280"/>
            <a:ext cx="3474720" cy="24444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1A2E"/>
                </a:solidFill>
              </a:defRPr>
            </a:pPr>
            <a:r>
              <a:t>Pre-Trade Risk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FR-1: </a:t>
            </a:r>
            <a:r>
              <a:rPr sz="1300">
                <a:solidFill>
                  <a:srgbClr val="666666"/>
                </a:solidFill>
              </a:rPr>
              <a:t>fat finger (price/qty/notional), message rate throttle, kill switch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Kill switch: </a:t>
            </a:r>
            <a:r>
              <a:rPr sz="1300">
                <a:solidFill>
                  <a:srgbClr val="666666"/>
                </a:solidFill>
              </a:rPr>
              <a:t>cancel-all by participant/instrument/market-wide (&lt; 1 second)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Enterprise: </a:t>
            </a:r>
            <a:r>
              <a:rPr sz="1300">
                <a:solidFill>
                  <a:srgbClr val="666666"/>
                </a:solidFill>
              </a:rPr>
              <a:t>adds credit limits, position limits, exposure limits, short-sell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</a:defRPr>
            </a:pPr>
            <a:r>
              <a:t>Risk checks execute BEFORE sequencer - not in engine hot path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</a:defRPr>
            </a:pPr>
            <a:r>
              <a:t>Limits configurable per participant, per instrument, in real-time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1A2E"/>
                </a:solidFill>
              </a:defRPr>
            </a:pPr>
            <a:r>
              <a:t>Market Data Dissemination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</a:defRPr>
            </a:pPr>
            <a:r>
              <a:t>Full depth (all price levels) + trades + statistics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</a:defRPr>
            </a:pPr>
            <a:r>
              <a:t>Multicast (UDP) for colocated participants (FR-1)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</a:defRPr>
            </a:pPr>
            <a:r>
              <a:t>TCP/WebSocket for WAN distribution (Phase 2)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</a:defRPr>
            </a:pPr>
            <a:r>
              <a:t>Snapshot + incremental model with gap detection and recovery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</a:defRPr>
            </a:pPr>
            <a:r>
              <a:t>Published in exact engine processing order (sequenced)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1A2E"/>
                </a:solidFill>
              </a:defRPr>
            </a:pPr>
            <a:r>
              <a:t>Three Deployment Profiles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82296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114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Profile A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Profile B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Profile C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Tier-1 exchange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Most regulated venues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Startup / carbon / crossing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Hardware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Bare metal, DPDK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Bare metal, standard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Cloud bare-metal / VM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Clock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PTP + GPS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PTP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NTP or PTP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Engine p99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&lt; 5 us (target)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&lt; 20 us (target)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&lt; 100 us (target)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Wire-to-wire p99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&lt; 25 us (target)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&lt; 100 us (target)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&lt; 1 ms (target)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Fairness delta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&lt; 1 us (HW) / &lt; 5 us (SW)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&lt; 5 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&lt; 50 us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1A2E"/>
                </a:solidFill>
              </a:defRPr>
            </a:pPr>
            <a:r>
              <a:t>End-to-End Latency Budget (Profile 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D6AE00"/>
                </a:solidFill>
              </a:defRPr>
            </a:pPr>
            <a:r>
              <a:t>Planning assumptions - not approved commitments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114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Target (p99)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Notes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NIC receive + GW 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~3 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DPDK poll-mode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Risk check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~3 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Fat finger, throttle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Sequencer + journal fsync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~3 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Regulatory-Grade mode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Engine match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~5 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Single-threaded partition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Output + fan-out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~5 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Lock-free ring buffer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TOTAL wire-to-wire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~20 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Profile A engineering target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1A2E"/>
                </a:solidFill>
              </a:defRPr>
            </a:pPr>
            <a:r>
              <a:t>Technology Stack - Open Decision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8229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114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Recommendation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Hot-path 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C++ (primary) or Rust (alternative)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[OPEN D-01]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Control plane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Java/Kotlin or 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Recommendation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Inter-service messaging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Aeron (engine), Kafka (surveillance)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Recommendation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Prometheus + Grafana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Recommendation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Journal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Custom NVMe or Aeron Archive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[OPEN D-06]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Containers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Kubernetes (non-hot-path only)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Recommendation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FPGA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Not recommended for FR-1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Recommendation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1A2E"/>
                </a:solidFill>
              </a:defRPr>
            </a:pPr>
            <a:r>
              <a:t>HA/DR - Active-Passive Reference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Primary site: </a:t>
            </a:r>
            <a:r>
              <a:rPr sz="1300">
                <a:solidFill>
                  <a:srgbClr val="666666"/>
                </a:solidFill>
              </a:rPr>
              <a:t>active. DR site: passive/hot standby (journal replicated)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Failover: </a:t>
            </a:r>
            <a:r>
              <a:rPr sz="1300">
                <a:solidFill>
                  <a:srgbClr val="666666"/>
                </a:solidFill>
              </a:rPr>
              <a:t>detect (&lt; 2s) &gt; decide &gt; promote (&lt; 60s) &gt; validate &gt; activate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Total RTO target: </a:t>
            </a:r>
            <a:r>
              <a:rPr sz="1300">
                <a:solidFill>
                  <a:srgbClr val="666666"/>
                </a:solidFill>
              </a:rPr>
              <a:t>&lt; 5 minutes. RPO: near-zero (replication lag).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FR-1: </a:t>
            </a:r>
            <a:r>
              <a:rPr sz="1300">
                <a:solidFill>
                  <a:srgbClr val="666666"/>
                </a:solidFill>
              </a:rPr>
              <a:t>warm restart only (single site). DR is Phase 2.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</a:defRPr>
            </a:pPr>
            <a:r>
              <a:t>Active-active is a Phase 4 consideration for 24/7 venues</a:t>
            </a:r>
          </a:p>
        </p:txBody>
      </p:sp>
      <p:pic>
        <p:nvPicPr>
          <p:cNvPr id="4" name="Picture 3" descr="11-ha-dr-fail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097280"/>
            <a:ext cx="3474720" cy="233505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1A2E"/>
                </a:solidFill>
              </a:defRPr>
            </a:pPr>
            <a:r>
              <a:t>Compliance-by-Configuration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</a:defRPr>
            </a:pPr>
            <a:r>
              <a:t>Jurisdiction-agnostic core with configurable policy profiles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Profile defines: </a:t>
            </a:r>
            <a:r>
              <a:rPr sz="1300">
                <a:solidFill>
                  <a:srgbClr val="666666"/>
                </a:solidFill>
              </a:rPr>
              <a:t>clock sync, transparency, risk controls, reporting, retention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Example profiles: </a:t>
            </a:r>
            <a:r>
              <a:rPr sz="1300">
                <a:solidFill>
                  <a:srgbClr val="666666"/>
                </a:solidFill>
              </a:rPr>
              <a:t>EU MiFID II, US Reg ATS, SG MAS, UAE VARA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Audit trail: </a:t>
            </a:r>
            <a:r>
              <a:rPr sz="1300">
                <a:solidFill>
                  <a:srgbClr val="666666"/>
                </a:solidFill>
              </a:rPr>
              <a:t>100% state mutations, nanosecond timestamps, tamper-evident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Surveillance: </a:t>
            </a:r>
            <a:r>
              <a:rPr sz="1300">
                <a:solidFill>
                  <a:srgbClr val="666666"/>
                </a:solidFill>
              </a:rPr>
              <a:t>data export hooks (FR-1); pattern detection Phase 2 (build vs. buy open)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1A2E"/>
                </a:solidFill>
              </a:defRPr>
            </a:pPr>
            <a:r>
              <a:t>Full Component Interaction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8-step numbered flow: </a:t>
            </a:r>
            <a:r>
              <a:rPr sz="1300">
                <a:solidFill>
                  <a:srgbClr val="666666"/>
                </a:solidFill>
              </a:rPr>
              <a:t>submit &gt; validate &gt; risk &gt; sequence &gt; journal &gt; match &gt; output &gt; deliver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Supporting services: </a:t>
            </a:r>
            <a:r>
              <a:rPr sz="1300">
                <a:solidFill>
                  <a:srgbClr val="666666"/>
                </a:solidFill>
              </a:rPr>
              <a:t>reference data, operations console, kill switch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</a:defRPr>
            </a:pPr>
            <a:r>
              <a:t>WS/REST gateway marked Phase 2+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</a:defRPr>
            </a:pPr>
            <a:r>
              <a:t>All components connected through defined interfaces</a:t>
            </a:r>
          </a:p>
        </p:txBody>
      </p:sp>
      <p:pic>
        <p:nvPicPr>
          <p:cNvPr id="4" name="Picture 3" descr="03-component-inter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097280"/>
            <a:ext cx="3474720" cy="157965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1A2E"/>
                </a:solidFill>
              </a:defRPr>
            </a:pPr>
            <a:r>
              <a:t>Foundation Release (FR-1) - What Ships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8229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114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FR-1 Scope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Deferred to Enterprise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Matching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Continuous LOB, price-time FIFO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Pro-rata, RFQ, dark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Order types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Market, Limit, IOC, FOK, GTC, 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Stop, Iceberg, Pegged, Complex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Connectivity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FIX 4.4 + Binary + Drop Copy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WS/REST, MM Quote GW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Fat finger, throttle, kill switch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Credit, position, short-sell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Post-trade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Capture, fees, confirmation, EOD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CCP clearing, allocations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DR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Warm restart (single site)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Active-passive DR site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Surveillance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File-based event export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Real-time stream, detection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1A2E"/>
                </a:solidFill>
              </a:defRPr>
            </a:pPr>
            <a:r>
              <a:t>14 Implementation Workstreams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D6AE00"/>
                </a:solidFill>
              </a:defRPr>
            </a:pPr>
            <a:r>
              <a:t>Planning assumptions - not approved commitments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048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Workstream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Key Roles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WS-01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Market Microstructure / Rules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Product, Compliance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Decide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WS-02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Core Matching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3-4 Sr Engineers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Build Core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WS-03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Gateways / Connectivity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2 Engineers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Build Core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WS-04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Pre-Trade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1-2 Engineers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Build Core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WS-05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Market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1-2 Engineers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Integrate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WS-06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Reference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1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Build Core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WS-07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Journal / Recovery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1-2 Engineers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Build Core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WS-08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Post-Trade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1-2 Engineers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Integrate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WS-09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Surveillance / Compliance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1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Integrate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WS-10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Infrastructure / Colo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2-3 SRE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Decide+Build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WS-11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Security / IAM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1-2 Engineers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Integrate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WS-12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Monitoring / SRE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1-2 SRE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Integrate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WS-13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Testing / Certification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2-3 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Certify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WS-14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Program / Rollout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1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All phases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1A2E"/>
                </a:solidFill>
              </a:defRPr>
            </a:pPr>
            <a:r>
              <a:t>Top 10 Milestones to FR-1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D6AE00"/>
                </a:solidFill>
              </a:defRPr>
            </a:pPr>
            <a:r>
              <a:t>Planning assumptions - not approved commitments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114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Milestone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Blocked By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M1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Asset class + jurisdiction decided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Month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M2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Language decided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Month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M6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Single-instrument matching functional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Month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D-01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M8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FIX gateway functional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Month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M11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End-to-end order lifecycle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Month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M6, M8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M15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Cert environment available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Month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M10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M16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First participant certified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Month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M15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M17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Performance validated under 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Month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M10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M19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Dress rehearsal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Month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M18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M20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FR-1 GO-LIVE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Month 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M19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1A2E"/>
                </a:solidFill>
              </a:defRPr>
            </a:pPr>
            <a:r>
              <a:t>Open Design Decisions - Must Close Before Build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82296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114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Decision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Owner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Deadline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Blocks FR-1?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D-01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Hot-path 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CTO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Week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D-02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FR-1 asset 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Week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D-03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Jurisdiction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Compliance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Week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D-04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Sequencing (HW/SW)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Month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D-05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Colocation 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Infrastructure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Month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D-06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Journal implementation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Eng 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Month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1A2E"/>
                </a:solidFill>
              </a:defRPr>
            </a:pPr>
            <a:r>
              <a:t>Top Delivery Risks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82296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114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Risk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Probability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Lead Mitigation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Decision closure delays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Decision pack + deadlines + escalation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Performance targets not met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Early profiling from M3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Hardware supply chain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Order M1; cloud fallback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Insufficient participants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Incentive programs; partners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Determinism bugs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Replay tests on every commit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Scope creep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Product owner empowered to defer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1A2E"/>
                </a:solidFill>
              </a:defRPr>
            </a:pPr>
            <a:r>
              <a:t>Build vs Buy Boundaries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82296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114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Capability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Recommendation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Rationale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Matching engine 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BUILD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Core differentiator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Gateways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HYBRID (lib + custom)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FIX engine library; custom binary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Surveillance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BUY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Specialized vendor domain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BUY/OSS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Prometheus, Grafana, ELK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PTP infrastructure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BUY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Meinberg, Spectracom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HSM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BUY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66666"/>
                          </a:solidFill>
                        </a:defRPr>
                      </a:pPr>
                      <a:r>
                        <a:t>Thales, nCipher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1A2E"/>
                </a:solidFill>
              </a:defRPr>
            </a:pPr>
            <a:r>
              <a:t>Rollout Plan - FR-1 to 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Internal testing: </a:t>
            </a:r>
            <a:r>
              <a:rPr sz="1300">
                <a:solidFill>
                  <a:srgbClr val="666666"/>
                </a:solidFill>
              </a:rPr>
              <a:t>platform running with synthetic load (4 weeks)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Participant certification: </a:t>
            </a:r>
            <a:r>
              <a:rPr sz="1300">
                <a:solidFill>
                  <a:srgbClr val="666666"/>
                </a:solidFill>
              </a:rPr>
              <a:t>selected participants certify connectivity (6 weeks)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Market rehearsal: </a:t>
            </a:r>
            <a:r>
              <a:rPr sz="1300">
                <a:solidFill>
                  <a:srgbClr val="666666"/>
                </a:solidFill>
              </a:rPr>
              <a:t>full dress rehearsal with all participants (2 weeks)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Soft launch: </a:t>
            </a:r>
            <a:r>
              <a:rPr sz="1300">
                <a:solidFill>
                  <a:srgbClr val="666666"/>
                </a:solidFill>
              </a:rPr>
              <a:t>limited instruments, limited participants, real trading (2 weeks)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Full launch: </a:t>
            </a:r>
            <a:r>
              <a:rPr sz="1300">
                <a:solidFill>
                  <a:srgbClr val="666666"/>
                </a:solidFill>
              </a:rPr>
              <a:t>all instruments, all participants, production operation</a:t>
            </a:r>
          </a:p>
        </p:txBody>
      </p:sp>
      <p:pic>
        <p:nvPicPr>
          <p:cNvPr id="4" name="Picture 3" descr="12-rollout-migration-swimla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097280"/>
            <a:ext cx="3474720" cy="1619247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1A2E"/>
                </a:solidFill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Week 1: </a:t>
            </a:r>
            <a:r>
              <a:rPr sz="1300">
                <a:solidFill>
                  <a:srgbClr val="666666"/>
                </a:solidFill>
              </a:rPr>
              <a:t>Decision workshop for D-01 through D-06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Week 2: </a:t>
            </a:r>
            <a:r>
              <a:rPr sz="1300">
                <a:solidFill>
                  <a:srgbClr val="666666"/>
                </a:solidFill>
              </a:rPr>
              <a:t>Close decisions; begin hiring; order hardware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Month 1: </a:t>
            </a:r>
            <a:r>
              <a:rPr sz="1300">
                <a:solidFill>
                  <a:srgbClr val="666666"/>
                </a:solidFill>
              </a:rPr>
              <a:t>Engine skeleton + build pipeline operational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Month 3: </a:t>
            </a:r>
            <a:r>
              <a:rPr sz="1300">
                <a:solidFill>
                  <a:srgbClr val="666666"/>
                </a:solidFill>
              </a:rPr>
              <a:t>End-to-end order lifecycle functional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A1A2E"/>
                </a:solidFill>
              </a:rPr>
              <a:t>Month 9: </a:t>
            </a:r>
            <a:r>
              <a:rPr sz="1300">
                <a:solidFill>
                  <a:srgbClr val="666666"/>
                </a:solidFill>
              </a:rPr>
              <a:t>FR-1 go-live (planning target)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Architecture Baseline Accepted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918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999999"/>
                </a:solidFill>
              </a:defRPr>
            </a:pPr>
            <a:r>
              <a:t>30 specification files  |  12 architecture diagrams  |  Frozen v1.0.0-FINAL</a:t>
            </a:r>
            <a:br/>
            <a:r>
              <a:t>Ready for decision workshop and implementation planning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