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title slide. Context: go/no-go briefing for Foundation Release (FR-1).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strategic thesis, not verified market research. Specific market-size figures should be sourced from independent research if used in investor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just a matching engine - a complete venue platform. Emphasize 'configurable' and 'multi-jurisdiction'.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platform technology serves all venue types through configuration. 'Build once, deploy many.'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are non-negotiable and guide every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FR-1 can run a trading day and generate revenue. Enterprise features are additive.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commercial differentiator: same platform serves an HFT equity exchange and a carbon credit startup.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5-phase approach manages risk: FR-1 proves technology, Phase 2 proves commercial viability.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are planning assumptions subject to decision closure and scope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moat is the combination of configurability + performance + compliance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decisions must close within 2 weeks to hold the 9-month timeline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risk has a named mitigation. Phased delivery means we can pivot after FR-1.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specific about what approval means: budget, team, timeline, and decision authority. Offer architecture review deck as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Multi-Asset Matching Engine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Executive Briefing  |  Confidential  |  2026-03-24</a:t>
            </a:r>
            <a:br/>
            <a:r>
              <a:t>Planning assumptions - not approved commitments until stakeholder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The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Electronic trading venue infrastructure is a large, growing market with aging incumbent technology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Many exchanges operate matching platforms built over a decade ago with high vendor lock-in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Regulatory fragmentation across jurisdictions creates demand for compliance-ready venue technology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New asset classes (carbon, digital assets, tokenized securities) need institutional-grade infrastructure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Strategic thesis: </a:t>
            </a:r>
            <a:r>
              <a:rPr sz="1300">
                <a:solidFill>
                  <a:srgbClr val="666666"/>
                </a:solidFill>
              </a:rPr>
              <a:t>no available platform meets performance, multi-asset, compliance, and cost requirements simultaneously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What We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Configurable, multi-asset electronic trading venue platform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Deterministic matching engine designed for institutional-grade performance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Compliance-by-configuration: </a:t>
            </a:r>
            <a:r>
              <a:rPr sz="1300">
                <a:solidFill>
                  <a:srgbClr val="666666"/>
                </a:solidFill>
              </a:rPr>
              <a:t>deploy across jurisdictions without re-architecture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Full platform: </a:t>
            </a:r>
            <a:r>
              <a:rPr sz="1300">
                <a:solidFill>
                  <a:srgbClr val="666666"/>
                </a:solidFill>
              </a:rPr>
              <a:t>connectivity, risk controls, market data, post-trade, surveillance hooks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Owned technology: </a:t>
            </a:r>
            <a:r>
              <a:rPr sz="1300">
                <a:solidFill>
                  <a:srgbClr val="666666"/>
                </a:solidFill>
              </a:rPr>
              <a:t>no vendor lock-in, full commercial flexibility</a:t>
            </a:r>
          </a:p>
        </p:txBody>
      </p:sp>
      <p:pic>
        <p:nvPicPr>
          <p:cNvPr id="4" name="Picture 3" descr="01-system-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947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Who It 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Regulated exchanges (national / regional)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MTFs, OTFs, and alternative trading systems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Digital-asset exchanges seeking institutional credibility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Commodity, energy, and carbon trading venues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Regional multi-asset market operators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Broker internal crossing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Key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Determinism: </a:t>
            </a:r>
            <a:r>
              <a:rPr sz="1300">
                <a:solidFill>
                  <a:srgbClr val="666666"/>
                </a:solidFill>
              </a:rPr>
              <a:t>identical input always produces identical output - essential for audit and replay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Separation of concerns: </a:t>
            </a:r>
            <a:r>
              <a:rPr sz="1300">
                <a:solidFill>
                  <a:srgbClr val="666666"/>
                </a:solidFill>
              </a:rPr>
              <a:t>hot-path matching isolated from control plane and operations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Configurability: </a:t>
            </a:r>
            <a:r>
              <a:rPr sz="1300">
                <a:solidFill>
                  <a:srgbClr val="666666"/>
                </a:solidFill>
              </a:rPr>
              <a:t>existing market models parameterized; new logic via controlled release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Resilience by design: </a:t>
            </a:r>
            <a:r>
              <a:rPr sz="1300">
                <a:solidFill>
                  <a:srgbClr val="666666"/>
                </a:solidFill>
              </a:rPr>
              <a:t>journal, snapshots, warm restart, defined RTO/RPO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Regulatory readiness: </a:t>
            </a:r>
            <a:r>
              <a:rPr sz="1300">
                <a:solidFill>
                  <a:srgbClr val="666666"/>
                </a:solidFill>
              </a:rPr>
              <a:t>audit trails, clock sync, surveillance hooks built in from inception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Foundation Release (FR-1) vs. Enterprise Target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FR-1: </a:t>
            </a:r>
            <a:r>
              <a:rPr sz="1300">
                <a:solidFill>
                  <a:srgbClr val="666666"/>
                </a:solidFill>
              </a:rPr>
              <a:t>Core matching, basic risk, FIX + binary connectivity, market data, audit trail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Enterprise: </a:t>
            </a:r>
            <a:r>
              <a:rPr sz="1300">
                <a:solidFill>
                  <a:srgbClr val="666666"/>
                </a:solidFill>
              </a:rPr>
              <a:t>Multi-asset, advanced orders, RFQ, DR, clearing, full surveillance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FR-1 supports initial licensing engagement, subject to jurisdiction-specific approval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Each phase is additive - no re-architecture required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FR-1 is a production-capable release, not a prototype</a:t>
            </a:r>
          </a:p>
        </p:txBody>
      </p:sp>
      <p:pic>
        <p:nvPicPr>
          <p:cNvPr id="4" name="Picture 3" descr="06-fr1-vs-enterpr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86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Deploy Anywhere - Three Performance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Profile A: </a:t>
            </a:r>
            <a:r>
              <a:rPr sz="1300">
                <a:solidFill>
                  <a:srgbClr val="666666"/>
                </a:solidFill>
              </a:rPr>
              <a:t>Ultra-low-latency colocation - for tier-1 exchanges competing on speed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Profile B: </a:t>
            </a:r>
            <a:r>
              <a:rPr sz="1300">
                <a:solidFill>
                  <a:srgbClr val="666666"/>
                </a:solidFill>
              </a:rPr>
              <a:t>Standard exchange-grade - for most regulated venues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Profile C: </a:t>
            </a:r>
            <a:r>
              <a:rPr sz="1300">
                <a:solidFill>
                  <a:srgbClr val="666666"/>
                </a:solidFill>
              </a:rPr>
              <a:t>Cloud-compatible - for startups, broker crossing, commodity/carbon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Same platform code; infrastructure choices determine performance tier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All performance figures are engineering targets, not contractual guarantees</a:t>
            </a:r>
          </a:p>
        </p:txBody>
      </p:sp>
      <p:pic>
        <p:nvPicPr>
          <p:cNvPr id="4" name="Picture 3" descr="07-deployment-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9014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Path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6AE00"/>
                </a:solidFill>
              </a:defRPr>
            </a:pPr>
            <a:r>
              <a:t>Planning assumptions - not approved commitments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Timeline 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Foundation Release (FR-1)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Core matching, basic risk, FIX/binary, 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9 months (target)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Exchange-Grade (EGR)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Multi-asset, clearing, full surveillance,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Months 6-15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Multi-Asset (MAR)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RFQ, dark pools, complex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Months 12-21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Advanced Ops (AOR)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Automated DR, chaos testing,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Months 18-27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Ecosystem (ECO)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Analytics, licensing, white-label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Months 24-36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What It Takes (Planning Assumptions)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6AE00"/>
                </a:solidFill>
              </a:defRPr>
            </a:pPr>
            <a:r>
              <a:t>Planning assumptions - not approved commitments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Planning Estimate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12-15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8 eng + 2 QA + 1 product + 2 SRE + 1 PM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$200K-500K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Servers, NICs, PTP, switches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Software/Licensing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$50K-100K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FIX engine, monitoring, HSM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$10K-30K/month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Colocation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9 months from decision 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Planning target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Why This Platform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Technology sovereignty: </a:t>
            </a:r>
            <a:r>
              <a:rPr sz="1300">
                <a:solidFill>
                  <a:srgbClr val="666666"/>
                </a:solidFill>
              </a:rPr>
              <a:t>no vendor lock-in; own the core technology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Multi-asset from the architecture: </a:t>
            </a:r>
            <a:r>
              <a:rPr sz="1300">
                <a:solidFill>
                  <a:srgbClr val="666666"/>
                </a:solidFill>
              </a:rPr>
              <a:t>designed multi-asset from day one, not extended later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Compliance-by-configuration: </a:t>
            </a:r>
            <a:r>
              <a:rPr sz="1300">
                <a:solidFill>
                  <a:srgbClr val="666666"/>
                </a:solidFill>
              </a:rPr>
              <a:t>same platform, different jurisdictions, no re-build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Modern architecture: </a:t>
            </a:r>
            <a:r>
              <a:rPr sz="1300">
                <a:solidFill>
                  <a:srgbClr val="666666"/>
                </a:solidFill>
              </a:rPr>
              <a:t>event-sourced, deterministic, replayable - built for audit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Speed to market: </a:t>
            </a:r>
            <a:r>
              <a:rPr sz="1300">
                <a:solidFill>
                  <a:srgbClr val="666666"/>
                </a:solidFill>
              </a:rPr>
              <a:t>new instruments in weeks using existing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Key Decisions for This 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Options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Asset class for 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Equities / Derivatives / Digital / Carbon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Product + 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Week 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Target jurisdiction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EU / US / Singapore / UAE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Week 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Engine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C++ / Rust /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Week 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Budget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Approve FR-1 build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This meeting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Controlled Risk Through Phased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Phased investment: </a:t>
            </a:r>
            <a:r>
              <a:rPr sz="1300">
                <a:solidFill>
                  <a:srgbClr val="666666"/>
                </a:solidFill>
              </a:rPr>
              <a:t>FR-1 limits initial spend; revenue possible before full platform cost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Technology risk: </a:t>
            </a:r>
            <a:r>
              <a:rPr sz="1300">
                <a:solidFill>
                  <a:srgbClr val="666666"/>
                </a:solidFill>
              </a:rPr>
              <a:t>mitigated by proven architecture patterns and early performance validation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Market risk: </a:t>
            </a:r>
            <a:r>
              <a:rPr sz="1300">
                <a:solidFill>
                  <a:srgbClr val="666666"/>
                </a:solidFill>
              </a:rPr>
              <a:t>pilot participants committed before go-live; market-maker incentives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Regulatory risk: </a:t>
            </a:r>
            <a:r>
              <a:rPr sz="1300">
                <a:solidFill>
                  <a:srgbClr val="666666"/>
                </a:solidFill>
              </a:rPr>
              <a:t>early regulator engagement; compliance-by-design, not bolt-on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Execution risk: </a:t>
            </a:r>
            <a:r>
              <a:rPr sz="1300">
                <a:solidFill>
                  <a:srgbClr val="666666"/>
                </a:solidFill>
              </a:rPr>
              <a:t>clear milestones, monthly decision checkpoints, experienced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6AE00"/>
                </a:solidFill>
              </a:defRPr>
            </a:pPr>
            <a:r>
              <a:t>Planning assumptions - not approved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APPROVE Foundation Release (FR-1) build with 12-15 person team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AUTHORIZE hardware and colocation budget ($300K-600K planning range)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EMPOWER CTO + Product + Compliance to close top 6 decisions within 2 weeks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SCHEDULE monthly progress reviews against 20-milestone plan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TARGET: </a:t>
            </a:r>
            <a:r>
              <a:rPr sz="1300">
                <a:solidFill>
                  <a:srgbClr val="666666"/>
                </a:solidFill>
              </a:rPr>
              <a:t>FR-1 production-ready in 9 months from decision closure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Next step: Decision workshop within one week</a:t>
            </a:r>
            <a:br/>
            <a:r>
              <a:t>Architecture review deck available for technical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